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0"/>
            <a:ext cx="640080" cy="6858000"/>
          </a:xfrm>
          <a:prstGeom prst="rect">
            <a:avLst/>
          </a:prstGeom>
          <a:solidFill>
            <a:srgbClr val="1B2A4D"/>
          </a:solidFill>
          <a:ln/>
        </p:spPr>
      </p:sp>
      <p:sp>
        <p:nvSpPr>
          <p:cNvPr id="4" name="Shape 2"/>
          <p:cNvSpPr/>
          <p:nvPr/>
        </p:nvSpPr>
        <p:spPr>
          <a:xfrm>
            <a:off x="8823960" y="0"/>
            <a:ext cx="557784" cy="6858000"/>
          </a:xfrm>
          <a:prstGeom prst="rect">
            <a:avLst/>
          </a:prstGeom>
          <a:solidFill>
            <a:srgbClr val="0B1428"/>
          </a:solidFill>
          <a:ln/>
        </p:spPr>
      </p:sp>
      <p:sp>
        <p:nvSpPr>
          <p:cNvPr id="5" name="Shape 3"/>
          <p:cNvSpPr/>
          <p:nvPr/>
        </p:nvSpPr>
        <p:spPr>
          <a:xfrm>
            <a:off x="8869680" y="0"/>
            <a:ext cx="475488" cy="6858000"/>
          </a:xfrm>
          <a:prstGeom prst="rect">
            <a:avLst/>
          </a:prstGeom>
          <a:solidFill>
            <a:srgbClr val="1B2A4D"/>
          </a:solidFill>
          <a:ln/>
        </p:spPr>
      </p:sp>
      <p:sp>
        <p:nvSpPr>
          <p:cNvPr id="6" name="Shape 4"/>
          <p:cNvSpPr/>
          <p:nvPr/>
        </p:nvSpPr>
        <p:spPr>
          <a:xfrm>
            <a:off x="8915400" y="0"/>
            <a:ext cx="393192" cy="6858000"/>
          </a:xfrm>
          <a:prstGeom prst="rect">
            <a:avLst/>
          </a:prstGeom>
          <a:solidFill>
            <a:srgbClr val="0B1428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0" y="0"/>
            <a:ext cx="310896" cy="6858000"/>
          </a:xfrm>
          <a:prstGeom prst="rect">
            <a:avLst/>
          </a:prstGeom>
          <a:solidFill>
            <a:srgbClr val="1B2A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· KERNEL · ARCHITECTURE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OS provides — and why programs, users, and hardware depend on it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1097280" cy="0"/>
          </a:xfrm>
          <a:prstGeom prst="line">
            <a:avLst/>
          </a:prstGeom>
          <a:noFill/>
          <a:ln w="25400">
            <a:solidFill>
              <a:srgbClr val="FCA311"/>
            </a:solidFill>
            <a:prstDash val="solid"/>
          </a:ln>
        </p:spPr>
      </p:sp>
      <p:pic>
        <p:nvPicPr>
          <p:cNvPr id="12" name="Image 0" descr="icons/cpu_amb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9966960" y="288036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Operating System Service?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operating system provides an environment for the execution of programs.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that environment useful, it offers a defined set of services to both programs and the users who run them.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services exist for two reasons: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128016" cy="12801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461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for the programmer — a common set of operations instead of rewriting hardware access every 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904488"/>
            <a:ext cx="128016" cy="12801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8130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and safe use of shared system resources across many programs and users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155448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17190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Application Programs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21762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work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23960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C7A"/>
                </a:solidFill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92240" y="306324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CA311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32278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Services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66560" y="36850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· execution · I/O · files · comms · protection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23960" y="4297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C7A"/>
                </a:solidFill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92240" y="457200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4A5C7A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47365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6560" y="51937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· memory · devices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Broad Categories of Services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46608" y="1691640"/>
            <a:ext cx="5120640" cy="4389120"/>
          </a:xfrm>
          <a:prstGeom prst="roundRect">
            <a:avLst>
              <a:gd name="adj" fmla="val 2083"/>
            </a:avLst>
          </a:prstGeom>
          <a:solidFill>
            <a:srgbClr val="F5F6F8"/>
          </a:solidFill>
          <a:ln/>
        </p:spPr>
      </p:sp>
      <p:sp>
        <p:nvSpPr>
          <p:cNvPr id="6" name="Shape 4"/>
          <p:cNvSpPr/>
          <p:nvPr/>
        </p:nvSpPr>
        <p:spPr>
          <a:xfrm>
            <a:off x="1112368" y="2057400"/>
            <a:ext cx="777240" cy="77724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7" name="Image 0" descr="icons/monito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532" y="22265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2368" y="3017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Helping the User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12368" y="34747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that make the system convenient and usable — the interface between people and the machine.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112368" y="4443984"/>
            <a:ext cx="82296" cy="822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1" name="Text 8"/>
          <p:cNvSpPr/>
          <p:nvPr/>
        </p:nvSpPr>
        <p:spPr>
          <a:xfrm>
            <a:off x="1340968" y="433425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112368" y="4773168"/>
            <a:ext cx="82296" cy="822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3" name="Text 10"/>
          <p:cNvSpPr/>
          <p:nvPr/>
        </p:nvSpPr>
        <p:spPr>
          <a:xfrm>
            <a:off x="1340968" y="46634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execution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112368" y="5102352"/>
            <a:ext cx="82296" cy="822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5" name="Text 12"/>
          <p:cNvSpPr/>
          <p:nvPr/>
        </p:nvSpPr>
        <p:spPr>
          <a:xfrm>
            <a:off x="1340968" y="499262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operations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112368" y="5431536"/>
            <a:ext cx="82296" cy="822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7" name="Text 14"/>
          <p:cNvSpPr/>
          <p:nvPr/>
        </p:nvSpPr>
        <p:spPr>
          <a:xfrm>
            <a:off x="1340968" y="53218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File-system access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1112368" y="5760720"/>
            <a:ext cx="82296" cy="822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9" name="Text 16"/>
          <p:cNvSpPr/>
          <p:nvPr/>
        </p:nvSpPr>
        <p:spPr>
          <a:xfrm>
            <a:off x="1340968" y="56509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324448" y="1691640"/>
            <a:ext cx="5120640" cy="4389120"/>
          </a:xfrm>
          <a:prstGeom prst="roundRect">
            <a:avLst>
              <a:gd name="adj" fmla="val 2083"/>
            </a:avLst>
          </a:prstGeom>
          <a:solidFill>
            <a:srgbClr val="F5F6F8"/>
          </a:solidFill>
          <a:ln/>
        </p:spPr>
      </p:sp>
      <p:sp>
        <p:nvSpPr>
          <p:cNvPr id="21" name="Shape 18"/>
          <p:cNvSpPr/>
          <p:nvPr/>
        </p:nvSpPr>
        <p:spPr>
          <a:xfrm>
            <a:off x="6690208" y="2057400"/>
            <a:ext cx="777240" cy="77724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22" name="Image 1" descr="icons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372" y="2226564"/>
            <a:ext cx="438912" cy="43891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690208" y="3017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Helping the System Itself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6690208" y="34747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that keep the OS efficient, fair, and safe as many programs share it at once.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690208" y="4443984"/>
            <a:ext cx="82296" cy="822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6" name="Text 22"/>
          <p:cNvSpPr/>
          <p:nvPr/>
        </p:nvSpPr>
        <p:spPr>
          <a:xfrm>
            <a:off x="6918808" y="433425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690208" y="4773168"/>
            <a:ext cx="82296" cy="822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8" name="Text 24"/>
          <p:cNvSpPr/>
          <p:nvPr/>
        </p:nvSpPr>
        <p:spPr>
          <a:xfrm>
            <a:off x="6918808" y="46634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detection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690208" y="5102352"/>
            <a:ext cx="82296" cy="822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0" name="Text 26"/>
          <p:cNvSpPr/>
          <p:nvPr/>
        </p:nvSpPr>
        <p:spPr>
          <a:xfrm>
            <a:off x="6918808" y="499262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&amp; security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6690208" y="5431536"/>
            <a:ext cx="82296" cy="822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2" name="Text 28"/>
          <p:cNvSpPr/>
          <p:nvPr/>
        </p:nvSpPr>
        <p:spPr>
          <a:xfrm>
            <a:off x="6918808" y="53218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SERVICE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188720" cy="118872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7" name="Image 0" descr="icons/monito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258568"/>
            <a:ext cx="603504" cy="603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429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Interface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343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users interact with the OS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937760" y="868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868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596128" y="822960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Interface (CLI) — typed commands run through a command interpreter, or shell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37760" y="19476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596128" y="1901952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Interface (GUI) — a windowed, icon- and menu-driven, pointer-based system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937760" y="30266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3026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596128" y="2980944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interface — commands and directives are bundled into a file, then executed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937760" y="41056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20" name="Text 17"/>
          <p:cNvSpPr/>
          <p:nvPr/>
        </p:nvSpPr>
        <p:spPr>
          <a:xfrm>
            <a:off x="493776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596128" y="4059936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operating systems offer more than one of these, for different kinds of users and tasks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937760" y="5532120"/>
            <a:ext cx="6613855" cy="960120"/>
          </a:xfrm>
          <a:prstGeom prst="roundRect">
            <a:avLst>
              <a:gd name="adj" fmla="val 7619"/>
            </a:avLst>
          </a:prstGeom>
          <a:solidFill>
            <a:srgbClr val="FDF1DC"/>
          </a:solidFill>
          <a:ln/>
        </p:spPr>
      </p:sp>
      <p:sp>
        <p:nvSpPr>
          <p:cNvPr id="23" name="Text 20"/>
          <p:cNvSpPr/>
          <p:nvPr/>
        </p:nvSpPr>
        <p:spPr>
          <a:xfrm>
            <a:off x="5257800" y="5532120"/>
            <a:ext cx="597377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operating system, different windows into it — CLI for speed and scripting, GUI for everyday, discoverable use.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894015" y="0"/>
            <a:ext cx="4297680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8396935" y="502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96935" y="822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SERVICE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396935" y="1965960"/>
            <a:ext cx="1188720" cy="118872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7" name="Image 0" descr="icons/play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9543" y="2258568"/>
            <a:ext cx="603504" cy="603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96935" y="3429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Execution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396935" y="4343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run, end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868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868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98448" y="822960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 program's code and data into memory before it runs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19476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98448" y="1901952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the CPU time, memory space, and other resources the program needs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0266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026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98448" y="2980944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and manages the program's execution environment while it runs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" y="41056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98448" y="4059936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execution — normally on completion, or abnormally if an error occurs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5532120"/>
            <a:ext cx="6613855" cy="960120"/>
          </a:xfrm>
          <a:prstGeom prst="roundRect">
            <a:avLst>
              <a:gd name="adj" fmla="val 7619"/>
            </a:avLst>
          </a:prstGeom>
          <a:solidFill>
            <a:srgbClr val="FDF1DC"/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" y="5532120"/>
            <a:ext cx="597377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double-click, command, or scheduled job triggers this same load-run-end cycle.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SERVICE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188720" cy="118872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7" name="Image 0" descr="icons/harddriv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258568"/>
            <a:ext cx="603504" cy="603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429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I/O Operations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343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Mediating every device request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937760" y="868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868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596128" y="822960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program may require I/O involving a file or a specific device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37760" y="19476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596128" y="1901952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efficiency and protection, users cannot control I/O devices directly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937760" y="30266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3026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596128" y="2980944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provides a uniform interface to perform I/O across many different devices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937760" y="41056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20" name="Text 17"/>
          <p:cNvSpPr/>
          <p:nvPr/>
        </p:nvSpPr>
        <p:spPr>
          <a:xfrm>
            <a:off x="493776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596128" y="4059936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read, write, and device request passes through the operating system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937760" y="5532120"/>
            <a:ext cx="6613855" cy="960120"/>
          </a:xfrm>
          <a:prstGeom prst="roundRect">
            <a:avLst>
              <a:gd name="adj" fmla="val 7619"/>
            </a:avLst>
          </a:prstGeom>
          <a:solidFill>
            <a:srgbClr val="FDF1DC"/>
          </a:solidFill>
          <a:ln/>
        </p:spPr>
      </p:sp>
      <p:sp>
        <p:nvSpPr>
          <p:cNvPr id="23" name="Text 20"/>
          <p:cNvSpPr/>
          <p:nvPr/>
        </p:nvSpPr>
        <p:spPr>
          <a:xfrm>
            <a:off x="5257800" y="5532120"/>
            <a:ext cx="597377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never touch hardware directly — the OS stands between every request and the device.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894015" y="0"/>
            <a:ext cx="4297680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8396935" y="502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96935" y="822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SERVICE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396935" y="1965960"/>
            <a:ext cx="1188720" cy="118872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7" name="Image 0" descr="icons/fold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9543" y="2258568"/>
            <a:ext cx="603504" cy="603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96935" y="3429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File-System Manipulation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396935" y="4343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write, organize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868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868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98448" y="822960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create, read, write, and delete files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19476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98448" y="1901952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files by name or attribute, and list directory contents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0266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026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98448" y="2980944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navigate, and remove directory structures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" y="41056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98448" y="4059936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permissions to control who can access or modify each file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5532120"/>
            <a:ext cx="6613855" cy="960120"/>
          </a:xfrm>
          <a:prstGeom prst="roundRect">
            <a:avLst>
              <a:gd name="adj" fmla="val 7619"/>
            </a:avLst>
          </a:prstGeom>
          <a:solidFill>
            <a:srgbClr val="FDF1DC"/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" y="5532120"/>
            <a:ext cx="597377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File-system services turn raw storage into something programs and people can organize and trust.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SERVICE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188720" cy="118872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7" name="Image 0" descr="icons/messag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258568"/>
            <a:ext cx="603504" cy="603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429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343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exchange information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937760" y="868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868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596128" y="822960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— two or more processes read and write a common region of memory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37760" y="19476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596128" y="1901952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passing — information is exchanged in packets moved between processes by the OS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937760" y="30266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3026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596128" y="2980944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cooperating processes to coordinate work on the same computer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937760" y="41056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20" name="Text 17"/>
          <p:cNvSpPr/>
          <p:nvPr/>
        </p:nvSpPr>
        <p:spPr>
          <a:xfrm>
            <a:off x="493776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596128" y="4059936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across a network, letting processes on different computers communicate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937760" y="5532120"/>
            <a:ext cx="6613855" cy="960120"/>
          </a:xfrm>
          <a:prstGeom prst="roundRect">
            <a:avLst>
              <a:gd name="adj" fmla="val 7619"/>
            </a:avLst>
          </a:prstGeom>
          <a:solidFill>
            <a:srgbClr val="FDF1DC"/>
          </a:solidFill>
          <a:ln/>
        </p:spPr>
      </p:sp>
      <p:sp>
        <p:nvSpPr>
          <p:cNvPr id="23" name="Text 20"/>
          <p:cNvSpPr/>
          <p:nvPr/>
        </p:nvSpPr>
        <p:spPr>
          <a:xfrm>
            <a:off x="5257800" y="5532120"/>
            <a:ext cx="597377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services turn isolated processes into a coordinated system.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894015" y="0"/>
            <a:ext cx="4297680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8396935" y="502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96935" y="822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SYSTEM-FACING SERVICE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396935" y="1965960"/>
            <a:ext cx="1188720" cy="118872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7" name="Image 0" descr="icons/slid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9543" y="2258568"/>
            <a:ext cx="603504" cy="603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96935" y="3429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Allocation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396935" y="4343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fairly, share efficiently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868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868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98448" y="822960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cycles, main memory, storage, and I/O devices are shared across many users and jobs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19476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98448" y="1901952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manages contention whenever multiple processes request the same resource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0266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026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98448" y="2980944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resources have dedicated allocation code — the CPU scheduler, for example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" y="41056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98448" y="4059936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Others, like peripheral devices, are handled by more general request-and-release code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5532120"/>
            <a:ext cx="6613855" cy="960120"/>
          </a:xfrm>
          <a:prstGeom prst="roundRect">
            <a:avLst>
              <a:gd name="adj" fmla="val 7619"/>
            </a:avLst>
          </a:prstGeom>
          <a:solidFill>
            <a:srgbClr val="FDF1DC"/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" y="5532120"/>
            <a:ext cx="597377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allocation keeps the system fast for everyone, not just the loudest process.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SYSTEM-FACING SERVICE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188720" cy="118872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7" name="Image 0" descr="icons/aler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258568"/>
            <a:ext cx="603504" cy="603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429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Detection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343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problems before they spread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937760" y="868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868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596128" y="822960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Constantly monitors the system for possible errors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37760" y="19476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596128" y="1901952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errors — in the CPU, in memory, or in I/O devices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937760" y="30266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3026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596128" y="2980944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errors — arithmetic overflow, access to forbidden memory, excessive resource use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937760" y="41056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20" name="Text 17"/>
          <p:cNvSpPr/>
          <p:nvPr/>
        </p:nvSpPr>
        <p:spPr>
          <a:xfrm>
            <a:off x="493776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596128" y="4059936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corrective action once an error is found, to ensure correct, consistent computing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937760" y="5532120"/>
            <a:ext cx="6613855" cy="960120"/>
          </a:xfrm>
          <a:prstGeom prst="roundRect">
            <a:avLst>
              <a:gd name="adj" fmla="val 7619"/>
            </a:avLst>
          </a:prstGeom>
          <a:solidFill>
            <a:srgbClr val="FDF1DC"/>
          </a:solidFill>
          <a:ln/>
        </p:spPr>
      </p:sp>
      <p:sp>
        <p:nvSpPr>
          <p:cNvPr id="23" name="Text 20"/>
          <p:cNvSpPr/>
          <p:nvPr/>
        </p:nvSpPr>
        <p:spPr>
          <a:xfrm>
            <a:off x="5257800" y="5532120"/>
            <a:ext cx="597377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an error early is what keeps a small fault from becoming a system-wide failure.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894015" y="0"/>
            <a:ext cx="4297680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8396935" y="502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96935" y="822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SYSTEM-FACING SERVICE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396935" y="1965960"/>
            <a:ext cx="1188720" cy="118872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7" name="Image 0" descr="icons/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9543" y="2258568"/>
            <a:ext cx="603504" cy="603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96935" y="3429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Protection &amp; Security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396935" y="4343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who can do what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868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868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98448" y="822960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controls each process's access to system resources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19476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98448" y="1901952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competing processes can't interfere with one another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0266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026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98448" y="2980944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defends the system from outsiders, typically through authentication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" y="41056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98448" y="4059936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to peripheral devices, like disk drives, against invalid access attempts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5532120"/>
            <a:ext cx="6613855" cy="960120"/>
          </a:xfrm>
          <a:prstGeom prst="roundRect">
            <a:avLst>
              <a:gd name="adj" fmla="val 7619"/>
            </a:avLst>
          </a:prstGeom>
          <a:solidFill>
            <a:srgbClr val="FDF1DC"/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" y="5532120"/>
            <a:ext cx="597377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governs insiders; security governs outsiders — a system needs both.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SYSTEM-FACING SERVICE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188720" cy="118872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7" name="Image 0" descr="icons/filetex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258568"/>
            <a:ext cx="603504" cy="603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429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Accounting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343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resources are used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937760" y="868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868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596128" y="822960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records of which users use which kinds of resources, and how much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37760" y="19476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596128" y="1901952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records can support billing, or simply usage statistics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937760" y="30266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3026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596128" y="2980944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are valuable raw data for researchers studying system behavior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937760" y="41056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sp>
        <p:nvSpPr>
          <p:cNvPr id="20" name="Text 17"/>
          <p:cNvSpPr/>
          <p:nvPr/>
        </p:nvSpPr>
        <p:spPr>
          <a:xfrm>
            <a:off x="493776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596128" y="4059936"/>
            <a:ext cx="5955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data helps in reconfiguring the system to improve computing services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937760" y="5532120"/>
            <a:ext cx="6613855" cy="960120"/>
          </a:xfrm>
          <a:prstGeom prst="roundRect">
            <a:avLst>
              <a:gd name="adj" fmla="val 7619"/>
            </a:avLst>
          </a:prstGeom>
          <a:solidFill>
            <a:srgbClr val="FDF1DC"/>
          </a:solidFill>
          <a:ln/>
        </p:spPr>
      </p:sp>
      <p:sp>
        <p:nvSpPr>
          <p:cNvPr id="23" name="Text 20"/>
          <p:cNvSpPr/>
          <p:nvPr/>
        </p:nvSpPr>
        <p:spPr>
          <a:xfrm>
            <a:off x="5257800" y="5532120"/>
            <a:ext cx="597377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improve what you don't measure — accounting is the OS keeping its own books.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Services Fit Together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135728" y="3017520"/>
            <a:ext cx="1920240" cy="1920240"/>
          </a:xfrm>
          <a:prstGeom prst="ellipse">
            <a:avLst/>
          </a:prstGeom>
          <a:solidFill>
            <a:srgbClr val="FCA311"/>
          </a:solidFill>
          <a:ln/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35728" y="363016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flipV="1">
            <a:off x="6095848" y="1645920"/>
            <a:ext cx="0" cy="2331720"/>
          </a:xfrm>
          <a:prstGeom prst="line">
            <a:avLst/>
          </a:prstGeom>
          <a:noFill/>
          <a:ln w="12700">
            <a:solidFill>
              <a:srgbClr val="4A5C7A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5656936" y="1207008"/>
            <a:ext cx="877824" cy="877824"/>
          </a:xfrm>
          <a:prstGeom prst="ellipse">
            <a:avLst/>
          </a:prstGeom>
          <a:solidFill>
            <a:srgbClr val="1B2A4D"/>
          </a:solidFill>
          <a:ln w="12700">
            <a:solidFill>
              <a:srgbClr val="4A5C7A"/>
            </a:solidFill>
            <a:prstDash val="solid"/>
          </a:ln>
        </p:spPr>
      </p:sp>
      <p:pic>
        <p:nvPicPr>
          <p:cNvPr id="9" name="Image 0" descr="icons/monitor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2112" y="147218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18608" y="21214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 flipV="1">
            <a:off x="6095848" y="2191439"/>
            <a:ext cx="2674331" cy="1786201"/>
          </a:xfrm>
          <a:prstGeom prst="line">
            <a:avLst/>
          </a:prstGeom>
          <a:noFill/>
          <a:ln w="12700">
            <a:solidFill>
              <a:srgbClr val="4A5C7A"/>
            </a:solidFill>
            <a:prstDash val="sysDot"/>
          </a:ln>
        </p:spPr>
      </p:sp>
      <p:sp>
        <p:nvSpPr>
          <p:cNvPr id="12" name="Shape 9"/>
          <p:cNvSpPr/>
          <p:nvPr/>
        </p:nvSpPr>
        <p:spPr>
          <a:xfrm>
            <a:off x="8331266" y="1752527"/>
            <a:ext cx="877824" cy="877824"/>
          </a:xfrm>
          <a:prstGeom prst="ellipse">
            <a:avLst/>
          </a:prstGeom>
          <a:solidFill>
            <a:srgbClr val="1B2A4D"/>
          </a:solidFill>
          <a:ln w="12700">
            <a:solidFill>
              <a:srgbClr val="4A5C7A"/>
            </a:solidFill>
            <a:prstDash val="solid"/>
          </a:ln>
        </p:spPr>
      </p:sp>
      <p:pic>
        <p:nvPicPr>
          <p:cNvPr id="13" name="Image 1" descr="icons/play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6442" y="2017703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992938" y="2666927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 flipV="1">
            <a:off x="6095848" y="3572741"/>
            <a:ext cx="4097312" cy="404899"/>
          </a:xfrm>
          <a:prstGeom prst="line">
            <a:avLst/>
          </a:prstGeom>
          <a:noFill/>
          <a:ln w="12700">
            <a:solidFill>
              <a:srgbClr val="4A5C7A"/>
            </a:solidFill>
            <a:prstDash val="sysDot"/>
          </a:ln>
        </p:spPr>
      </p:sp>
      <p:sp>
        <p:nvSpPr>
          <p:cNvPr id="16" name="Shape 12"/>
          <p:cNvSpPr/>
          <p:nvPr/>
        </p:nvSpPr>
        <p:spPr>
          <a:xfrm>
            <a:off x="9754248" y="3133829"/>
            <a:ext cx="877824" cy="877824"/>
          </a:xfrm>
          <a:prstGeom prst="ellipse">
            <a:avLst/>
          </a:prstGeom>
          <a:solidFill>
            <a:srgbClr val="1B2A4D"/>
          </a:solidFill>
          <a:ln w="12700">
            <a:solidFill>
              <a:srgbClr val="4A5C7A"/>
            </a:solidFill>
            <a:prstDash val="solid"/>
          </a:ln>
        </p:spPr>
      </p:sp>
      <p:pic>
        <p:nvPicPr>
          <p:cNvPr id="17" name="Image 2" descr="icons/harddriv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9424" y="3399005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15920" y="4048229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095848" y="3977640"/>
            <a:ext cx="3603116" cy="1165860"/>
          </a:xfrm>
          <a:prstGeom prst="line">
            <a:avLst/>
          </a:prstGeom>
          <a:noFill/>
          <a:ln w="12700">
            <a:solidFill>
              <a:srgbClr val="4A5C7A"/>
            </a:solidFill>
            <a:prstDash val="sysDot"/>
          </a:ln>
        </p:spPr>
      </p:sp>
      <p:sp>
        <p:nvSpPr>
          <p:cNvPr id="20" name="Shape 15"/>
          <p:cNvSpPr/>
          <p:nvPr/>
        </p:nvSpPr>
        <p:spPr>
          <a:xfrm>
            <a:off x="9260052" y="4704588"/>
            <a:ext cx="877824" cy="877824"/>
          </a:xfrm>
          <a:prstGeom prst="ellipse">
            <a:avLst/>
          </a:prstGeom>
          <a:solidFill>
            <a:srgbClr val="1B2A4D"/>
          </a:solidFill>
          <a:ln w="12700">
            <a:solidFill>
              <a:srgbClr val="4A5C7A"/>
            </a:solidFill>
            <a:prstDash val="solid"/>
          </a:ln>
        </p:spPr>
      </p:sp>
      <p:pic>
        <p:nvPicPr>
          <p:cNvPr id="21" name="Image 3" descr="icons/folder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228" y="496976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21724" y="56189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095848" y="3977640"/>
            <a:ext cx="1422982" cy="2191100"/>
          </a:xfrm>
          <a:prstGeom prst="line">
            <a:avLst/>
          </a:prstGeom>
          <a:noFill/>
          <a:ln w="12700">
            <a:solidFill>
              <a:srgbClr val="4A5C7A"/>
            </a:solidFill>
            <a:prstDash val="sysDot"/>
          </a:ln>
        </p:spPr>
      </p:sp>
      <p:sp>
        <p:nvSpPr>
          <p:cNvPr id="24" name="Shape 18"/>
          <p:cNvSpPr/>
          <p:nvPr/>
        </p:nvSpPr>
        <p:spPr>
          <a:xfrm>
            <a:off x="7079917" y="5729828"/>
            <a:ext cx="877824" cy="877824"/>
          </a:xfrm>
          <a:prstGeom prst="ellipse">
            <a:avLst/>
          </a:prstGeom>
          <a:solidFill>
            <a:srgbClr val="1B2A4D"/>
          </a:solidFill>
          <a:ln w="12700">
            <a:solidFill>
              <a:srgbClr val="4A5C7A"/>
            </a:solidFill>
            <a:prstDash val="solid"/>
          </a:ln>
        </p:spPr>
      </p:sp>
      <p:pic>
        <p:nvPicPr>
          <p:cNvPr id="25" name="Image 4" descr="icons/message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093" y="5995004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741589" y="66442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 flipH="1">
            <a:off x="4672866" y="3977640"/>
            <a:ext cx="1422982" cy="2191100"/>
          </a:xfrm>
          <a:prstGeom prst="line">
            <a:avLst/>
          </a:prstGeom>
          <a:noFill/>
          <a:ln w="12700">
            <a:solidFill>
              <a:srgbClr val="4A5C7A"/>
            </a:solidFill>
            <a:prstDash val="sysDot"/>
          </a:ln>
        </p:spPr>
      </p:sp>
      <p:sp>
        <p:nvSpPr>
          <p:cNvPr id="28" name="Shape 21"/>
          <p:cNvSpPr/>
          <p:nvPr/>
        </p:nvSpPr>
        <p:spPr>
          <a:xfrm>
            <a:off x="4233954" y="5729828"/>
            <a:ext cx="877824" cy="877824"/>
          </a:xfrm>
          <a:prstGeom prst="ellipse">
            <a:avLst/>
          </a:prstGeom>
          <a:solidFill>
            <a:srgbClr val="1B2A4D"/>
          </a:solidFill>
          <a:ln w="12700">
            <a:solidFill>
              <a:srgbClr val="4A5C7A"/>
            </a:solidFill>
            <a:prstDash val="solid"/>
          </a:ln>
        </p:spPr>
      </p:sp>
      <p:pic>
        <p:nvPicPr>
          <p:cNvPr id="29" name="Image 5" descr="icons/sliders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9130" y="5995004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895626" y="66442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 flipH="1">
            <a:off x="2492732" y="3977640"/>
            <a:ext cx="3603116" cy="1165860"/>
          </a:xfrm>
          <a:prstGeom prst="line">
            <a:avLst/>
          </a:prstGeom>
          <a:noFill/>
          <a:ln w="12700">
            <a:solidFill>
              <a:srgbClr val="4A5C7A"/>
            </a:solidFill>
            <a:prstDash val="sysDot"/>
          </a:ln>
        </p:spPr>
      </p:sp>
      <p:sp>
        <p:nvSpPr>
          <p:cNvPr id="32" name="Shape 24"/>
          <p:cNvSpPr/>
          <p:nvPr/>
        </p:nvSpPr>
        <p:spPr>
          <a:xfrm>
            <a:off x="2053820" y="4704588"/>
            <a:ext cx="877824" cy="877824"/>
          </a:xfrm>
          <a:prstGeom prst="ellipse">
            <a:avLst/>
          </a:prstGeom>
          <a:solidFill>
            <a:srgbClr val="1B2A4D"/>
          </a:solidFill>
          <a:ln w="12700">
            <a:solidFill>
              <a:srgbClr val="4A5C7A"/>
            </a:solidFill>
            <a:prstDash val="solid"/>
          </a:ln>
        </p:spPr>
      </p:sp>
      <p:pic>
        <p:nvPicPr>
          <p:cNvPr id="33" name="Image 6" descr="icons/alert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8996" y="4969764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715492" y="56189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50" dirty="0"/>
          </a:p>
        </p:txBody>
      </p:sp>
      <p:sp>
        <p:nvSpPr>
          <p:cNvPr id="35" name="Shape 26"/>
          <p:cNvSpPr/>
          <p:nvPr/>
        </p:nvSpPr>
        <p:spPr>
          <a:xfrm flipH="1" flipV="1">
            <a:off x="1998535" y="3572741"/>
            <a:ext cx="4097312" cy="404899"/>
          </a:xfrm>
          <a:prstGeom prst="line">
            <a:avLst/>
          </a:prstGeom>
          <a:noFill/>
          <a:ln w="12700">
            <a:solidFill>
              <a:srgbClr val="4A5C7A"/>
            </a:solidFill>
            <a:prstDash val="sysDot"/>
          </a:ln>
        </p:spPr>
      </p:sp>
      <p:sp>
        <p:nvSpPr>
          <p:cNvPr id="36" name="Shape 27"/>
          <p:cNvSpPr/>
          <p:nvPr/>
        </p:nvSpPr>
        <p:spPr>
          <a:xfrm>
            <a:off x="1559623" y="3133829"/>
            <a:ext cx="877824" cy="877824"/>
          </a:xfrm>
          <a:prstGeom prst="ellipse">
            <a:avLst/>
          </a:prstGeom>
          <a:solidFill>
            <a:srgbClr val="1B2A4D"/>
          </a:solidFill>
          <a:ln w="12700">
            <a:solidFill>
              <a:srgbClr val="4A5C7A"/>
            </a:solidFill>
            <a:prstDash val="solid"/>
          </a:ln>
        </p:spPr>
      </p:sp>
      <p:pic>
        <p:nvPicPr>
          <p:cNvPr id="37" name="Image 7" descr="icons/shield_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799" y="3399005"/>
            <a:ext cx="347472" cy="347472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221295" y="4048229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&amp;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</p:txBody>
      </p:sp>
      <p:sp>
        <p:nvSpPr>
          <p:cNvPr id="39" name="Shape 29"/>
          <p:cNvSpPr/>
          <p:nvPr/>
        </p:nvSpPr>
        <p:spPr>
          <a:xfrm flipH="1" flipV="1">
            <a:off x="3421517" y="2191439"/>
            <a:ext cx="2674331" cy="1786201"/>
          </a:xfrm>
          <a:prstGeom prst="line">
            <a:avLst/>
          </a:prstGeom>
          <a:noFill/>
          <a:ln w="12700">
            <a:solidFill>
              <a:srgbClr val="4A5C7A"/>
            </a:solidFill>
            <a:prstDash val="sysDot"/>
          </a:ln>
        </p:spPr>
      </p:sp>
      <p:sp>
        <p:nvSpPr>
          <p:cNvPr id="40" name="Shape 30"/>
          <p:cNvSpPr/>
          <p:nvPr/>
        </p:nvSpPr>
        <p:spPr>
          <a:xfrm>
            <a:off x="2982605" y="1752527"/>
            <a:ext cx="877824" cy="877824"/>
          </a:xfrm>
          <a:prstGeom prst="ellipse">
            <a:avLst/>
          </a:prstGeom>
          <a:solidFill>
            <a:srgbClr val="1B2A4D"/>
          </a:solidFill>
          <a:ln w="12700">
            <a:solidFill>
              <a:srgbClr val="4A5C7A"/>
            </a:solidFill>
            <a:prstDash val="solid"/>
          </a:ln>
        </p:spPr>
      </p:sp>
      <p:pic>
        <p:nvPicPr>
          <p:cNvPr id="41" name="Image 8" descr="icons/filetext_amb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47781" y="2017703"/>
            <a:ext cx="347472" cy="347472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2644277" y="2666927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950" dirty="0"/>
          </a:p>
        </p:txBody>
      </p:sp>
      <p:sp>
        <p:nvSpPr>
          <p:cNvPr id="43" name="Text 32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74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28800" y="187452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services exist for programmer convenience and for efficient, safe sharing of system resources.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74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98080" y="187452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services — interface, execution, I/O, files, communication — form what people interact with.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49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828800" y="37490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System-facing services — allocation, error detection, protection, accounting — keep the OS itself healthy.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35661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749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498080" y="37490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nine services form the layer every application relies on, without touching hardware directly.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8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0"/>
            <a:ext cx="640080" cy="6858000"/>
          </a:xfrm>
          <a:prstGeom prst="rect">
            <a:avLst/>
          </a:prstGeom>
          <a:solidFill>
            <a:srgbClr val="1B2A4D"/>
          </a:solidFill>
          <a:ln/>
        </p:spPr>
      </p:sp>
      <p:sp>
        <p:nvSpPr>
          <p:cNvPr id="4" name="Shape 2"/>
          <p:cNvSpPr/>
          <p:nvPr/>
        </p:nvSpPr>
        <p:spPr>
          <a:xfrm>
            <a:off x="-1325880" y="0"/>
            <a:ext cx="557784" cy="6858000"/>
          </a:xfrm>
          <a:prstGeom prst="rect">
            <a:avLst/>
          </a:prstGeom>
          <a:solidFill>
            <a:srgbClr val="0B1428"/>
          </a:solidFill>
          <a:ln/>
        </p:spPr>
      </p:sp>
      <p:sp>
        <p:nvSpPr>
          <p:cNvPr id="5" name="Shape 3"/>
          <p:cNvSpPr/>
          <p:nvPr/>
        </p:nvSpPr>
        <p:spPr>
          <a:xfrm>
            <a:off x="-1280160" y="0"/>
            <a:ext cx="475488" cy="6858000"/>
          </a:xfrm>
          <a:prstGeom prst="rect">
            <a:avLst/>
          </a:prstGeom>
          <a:solidFill>
            <a:srgbClr val="1B2A4D"/>
          </a:solidFill>
          <a:ln/>
        </p:spPr>
      </p:sp>
      <p:sp>
        <p:nvSpPr>
          <p:cNvPr id="6" name="Shape 4"/>
          <p:cNvSpPr/>
          <p:nvPr/>
        </p:nvSpPr>
        <p:spPr>
          <a:xfrm>
            <a:off x="-1234440" y="0"/>
            <a:ext cx="393192" cy="6858000"/>
          </a:xfrm>
          <a:prstGeom prst="rect">
            <a:avLst/>
          </a:prstGeom>
          <a:solidFill>
            <a:srgbClr val="0B1428"/>
          </a:solidFill>
          <a:ln/>
        </p:spPr>
      </p:sp>
      <p:sp>
        <p:nvSpPr>
          <p:cNvPr id="7" name="Shape 5"/>
          <p:cNvSpPr/>
          <p:nvPr/>
        </p:nvSpPr>
        <p:spPr>
          <a:xfrm>
            <a:off x="-1188720" y="0"/>
            <a:ext cx="310896" cy="6858000"/>
          </a:xfrm>
          <a:prstGeom prst="rect">
            <a:avLst/>
          </a:prstGeom>
          <a:solidFill>
            <a:srgbClr val="1B2A4D"/>
          </a:solidFill>
          <a:ln/>
        </p:spPr>
      </p:sp>
      <p:pic>
        <p:nvPicPr>
          <p:cNvPr id="8" name="Image 0" descr="icons/layers_amber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5547208" y="1965960"/>
            <a:ext cx="1097280" cy="1097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0" y="32004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2026-07-30T05:01:00Z</dcterms:created>
  <dcterms:modified xsi:type="dcterms:W3CDTF">2026-07-30T05:01:00Z</dcterms:modified>
</cp:coreProperties>
</file>